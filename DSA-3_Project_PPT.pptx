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58212" y="830424"/>
            <a:ext cx="9447726" cy="1595535"/>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Source Code </a:t>
            </a:r>
            <a:r>
              <a:rPr lang="en-US" sz="4000" b="1">
                <a:solidFill>
                  <a:srgbClr val="C00000"/>
                </a:solidFill>
                <a:latin typeface="+mn-lt"/>
              </a:rPr>
              <a:t>Clone Detector</a:t>
            </a:r>
            <a:endParaRPr lang="en-US" sz="4000" b="1" dirty="0">
              <a:solidFill>
                <a:srgbClr val="C00000"/>
              </a:solidFill>
              <a:latin typeface="+mn-lt"/>
            </a:endParaRPr>
          </a:p>
        </p:txBody>
      </p:sp>
      <p:sp>
        <p:nvSpPr>
          <p:cNvPr id="3" name="Subtitle 2"/>
          <p:cNvSpPr>
            <a:spLocks noGrp="1"/>
          </p:cNvSpPr>
          <p:nvPr>
            <p:ph type="subTitle" idx="1"/>
          </p:nvPr>
        </p:nvSpPr>
        <p:spPr>
          <a:xfrm>
            <a:off x="4077478" y="2920481"/>
            <a:ext cx="6839337" cy="1231641"/>
          </a:xfrm>
        </p:spPr>
        <p:txBody>
          <a:bodyPr/>
          <a:lstStyle/>
          <a:p>
            <a:r>
              <a:rPr lang="en-US" dirty="0">
                <a:solidFill>
                  <a:srgbClr val="0070C0"/>
                </a:solidFill>
              </a:rPr>
              <a:t>Team Members</a:t>
            </a:r>
          </a:p>
          <a:p>
            <a:r>
              <a:rPr lang="en-US" dirty="0">
                <a:solidFill>
                  <a:srgbClr val="0070C0"/>
                </a:solidFill>
              </a:rPr>
              <a:t>T. Arun 2520030456</a:t>
            </a:r>
          </a:p>
          <a:p>
            <a:r>
              <a:rPr lang="en-US" dirty="0">
                <a:solidFill>
                  <a:srgbClr val="0070C0"/>
                </a:solidFill>
              </a:rPr>
              <a:t>Dheeraj 2520080067</a:t>
            </a:r>
          </a:p>
          <a:p>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p>
          <a:p>
            <a:pPr lvl="0" algn="l" eaLnBrk="0" fontAlgn="base" hangingPunct="0">
              <a:lnSpc>
                <a:spcPct val="100000"/>
              </a:lnSpc>
              <a:spcBef>
                <a:spcPct val="0"/>
              </a:spcBef>
              <a:spcAft>
                <a:spcPct val="0"/>
              </a:spcAft>
            </a:pPr>
            <a:r>
              <a:rPr lang="en-US" altLang="en-US" sz="1800" dirty="0">
                <a:latin typeface="Arial" panose="020B0604020202020204" pitchFamily="34" charset="0"/>
                <a:ea typeface="Times New Roman" panose="02020603050405020304" pitchFamily="18" charset="0"/>
              </a:rPr>
              <a:t>                                          Mrs. Ch. Anitha</a:t>
            </a:r>
            <a:endParaRPr lang="en-US" altLang="en-US" sz="1000" dirty="0">
              <a:latin typeface="Arial" panose="020B0604020202020204" pitchFamily="34" charset="0"/>
            </a:endParaRPr>
          </a:p>
          <a:p>
            <a:pPr lvl="0" algn="l" eaLnBrk="0" fontAlgn="base" hangingPunct="0">
              <a:lnSpc>
                <a:spcPct val="100000"/>
              </a:lnSpc>
              <a:spcBef>
                <a:spcPct val="0"/>
              </a:spcBef>
              <a:spcAft>
                <a:spcPct val="0"/>
              </a:spcAft>
            </a:pPr>
            <a:r>
              <a:rPr lang="en-US" altLang="en-US" sz="1800" dirty="0">
                <a:latin typeface="Arial" panose="020B0604020202020204" pitchFamily="34" charset="0"/>
                <a:ea typeface="Times New Roman" panose="02020603050405020304" pitchFamily="18" charset="0"/>
              </a:rPr>
              <a:t>                                         Asst. Professor, C</a:t>
            </a:r>
            <a:endParaRPr lang="en-US" altLang="en-US" sz="1000" dirty="0">
              <a:latin typeface="Arial" panose="020B0604020202020204" pitchFamily="34" charset="0"/>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10" name="Content Body"/>
          <p:cNvSpPr txBox="1"/>
          <p:nvPr/>
        </p:nvSpPr>
        <p:spPr>
          <a:xfrm>
            <a:off x="685800" y="1000125"/>
            <a:ext cx="10820400" cy="5600000"/>
          </a:xfrm>
          <a:prstGeom prst="rect">
            <a:avLst/>
          </a:prstGeom>
          <a:noFill/>
        </p:spPr>
        <p:txBody>
          <a:bodyPr wrap="square" anchor="t">
            <a:normAutofit/>
          </a:bodyPr>
          <a:lstStyle/>
          <a:p>
            <a:pPr marL="0" indent="0" algn="just">
              <a:spcAft>
                <a:spcPts val="0"/>
              </a:spcAft>
              <a:buNone/>
            </a:pPr>
            <a:r>
              <a:rPr lang="en-US" sz="2000" dirty="0"/>
              <a:t>The Source Code Clone Detector is a software tool designed to identify duplicate or highly similar code fragments in a program. Duplicate code, also called code clones, makes software difficult to maintain and increases the chances of bugs. This project converts the source code into a sequence of tokens and normalizes identifiers such as variable and function names to reduce unnecessary differences. It then detects Type-1 and Type-2 code clones by finding long repeated token sequences using an efficient suffix automaton algorithm. The detected clone groups are displayed with their corresponding file names and line numbers, making it easy for developers to locate and review similar code. The system also evaluates its detection performance using a seeded benchmark to measure accuracy and effectiveness. This project demonstrates the practical use of Data Structures and Algorithms (DSA) in software engineering while helping developers improve code quality, reduce duplication, simplify maintenance, and promote better programming practices.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10" name="Content Body"/>
          <p:cNvSpPr txBox="1"/>
          <p:nvPr/>
        </p:nvSpPr>
        <p:spPr>
          <a:xfrm>
            <a:off x="685800" y="1000125"/>
            <a:ext cx="10820400" cy="5600000"/>
          </a:xfrm>
          <a:prstGeom prst="rect">
            <a:avLst/>
          </a:prstGeom>
          <a:noFill/>
        </p:spPr>
        <p:txBody>
          <a:bodyPr wrap="square" anchor="t">
            <a:normAutofit/>
          </a:bodyPr>
          <a:lstStyle/>
          <a:p>
            <a:pPr marL="0" indent="0" algn="just">
              <a:spcAft>
                <a:spcPts val="300"/>
              </a:spcAft>
              <a:buNone/>
            </a:pPr>
            <a:r>
              <a:rPr lang="en-US" sz="1800" dirty="0"/>
              <a:t>Software projects often contain repeated or very similar pieces of code, called code clones. For example, two programmers may write the same logic using different variable names. Manually finding such duplicate code in a large project is difficult and time-consuming. The Source Code Clone Detector automates this process. The system:</a:t>
            </a:r>
          </a:p>
          <a:p>
            <a:pPr marL="342900" indent="-342900">
              <a:spcAft>
                <a:spcPts val="200"/>
              </a:spcAft>
              <a:buFont typeface="+mj-lt"/>
              <a:buAutoNum type="arabicPeriod"/>
            </a:pPr>
            <a:r>
              <a:rPr lang="en-US" sz="1700" dirty="0"/>
              <a:t>Reads source code files.</a:t>
            </a:r>
          </a:p>
          <a:p>
            <a:pPr marL="342900" indent="-342900">
              <a:spcAft>
                <a:spcPts val="200"/>
              </a:spcAft>
              <a:buFont typeface="+mj-lt"/>
              <a:buAutoNum type="arabicPeriod" startAt="2"/>
            </a:pPr>
            <a:r>
              <a:rPr lang="en-US" sz="1700" dirty="0"/>
              <a:t>Converts source code into tokens.</a:t>
            </a:r>
          </a:p>
          <a:p>
            <a:pPr marL="342900" indent="-342900">
              <a:spcAft>
                <a:spcPts val="200"/>
              </a:spcAft>
              <a:buFont typeface="+mj-lt"/>
              <a:buAutoNum type="arabicPeriod" startAt="3"/>
            </a:pPr>
            <a:r>
              <a:rPr lang="en-US" sz="1700" dirty="0"/>
              <a:t>Normalizes identifiers.</a:t>
            </a:r>
          </a:p>
          <a:p>
            <a:pPr marL="342900" indent="-342900">
              <a:spcAft>
                <a:spcPts val="200"/>
              </a:spcAft>
              <a:buFont typeface="+mj-lt"/>
              <a:buAutoNum type="arabicPeriod" startAt="4"/>
            </a:pPr>
            <a:r>
              <a:rPr lang="en-US" sz="1700" dirty="0"/>
              <a:t>Creates a token stream.</a:t>
            </a:r>
          </a:p>
          <a:p>
            <a:pPr marL="342900" indent="-342900">
              <a:spcAft>
                <a:spcPts val="200"/>
              </a:spcAft>
              <a:buFont typeface="+mj-lt"/>
              <a:buAutoNum type="arabicPeriod" startAt="5"/>
            </a:pPr>
            <a:r>
              <a:rPr lang="en-US" sz="1700" dirty="0"/>
              <a:t>Uses a Suffix Automaton to find repeated sequences.</a:t>
            </a:r>
          </a:p>
          <a:p>
            <a:pPr marL="342900" indent="-342900">
              <a:spcAft>
                <a:spcPts val="200"/>
              </a:spcAft>
              <a:buFont typeface="+mj-lt"/>
              <a:buAutoNum type="arabicPeriod" startAt="6"/>
            </a:pPr>
            <a:r>
              <a:rPr lang="en-US" sz="1700" dirty="0"/>
              <a:t>Identifies Type-1 and Type-2 clones.</a:t>
            </a:r>
          </a:p>
          <a:p>
            <a:pPr marL="342900" indent="-342900">
              <a:spcAft>
                <a:spcPts val="200"/>
              </a:spcAft>
              <a:buFont typeface="+mj-lt"/>
              <a:buAutoNum type="arabicPeriod" startAt="7"/>
            </a:pPr>
            <a:r>
              <a:rPr lang="en-US" sz="1700" dirty="0"/>
              <a:t>Displays file names and line numbers.</a:t>
            </a:r>
          </a:p>
          <a:p>
            <a:pPr marL="342900" indent="-342900">
              <a:spcAft>
                <a:spcPts val="200"/>
              </a:spcAft>
              <a:buFont typeface="+mj-lt"/>
              <a:buAutoNum type="arabicPeriod" startAt="8"/>
            </a:pPr>
            <a:r>
              <a:rPr lang="en-US" sz="1700" dirty="0"/>
              <a:t>Measures detection accuracy using a benchmark.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10" name="Content Body"/>
          <p:cNvSpPr txBox="1"/>
          <p:nvPr/>
        </p:nvSpPr>
        <p:spPr>
          <a:xfrm>
            <a:off x="685800" y="1000125"/>
            <a:ext cx="10820400" cy="5600000"/>
          </a:xfrm>
          <a:prstGeom prst="rect">
            <a:avLst/>
          </a:prstGeom>
          <a:noFill/>
        </p:spPr>
        <p:txBody>
          <a:bodyPr wrap="square" anchor="t">
            <a:normAutofit/>
          </a:bodyPr>
          <a:lstStyle/>
          <a:p>
            <a:pPr marL="285750" indent="-285750">
              <a:spcAft>
                <a:spcPts val="350"/>
              </a:spcAft>
              <a:buFont typeface="Arial"/>
              <a:buChar char="•"/>
            </a:pPr>
            <a:r>
              <a:rPr lang="en-US" sz="1700" b="1" dirty="0"/>
              <a:t>Text-Based Clone Detection: </a:t>
            </a:r>
            <a:r>
              <a:rPr lang="en-US" sz="1700" dirty="0"/>
              <a:t>compares source code as text; finds exact duplicates but struggles when variable names are changed.</a:t>
            </a:r>
          </a:p>
          <a:p>
            <a:pPr marL="285750" indent="-285750">
              <a:spcAft>
                <a:spcPts val="350"/>
              </a:spcAft>
              <a:buFont typeface="Arial"/>
              <a:buChar char="•"/>
            </a:pPr>
            <a:r>
              <a:rPr lang="en-US" sz="1700" b="1" dirty="0"/>
              <a:t>Token-Based Detection: </a:t>
            </a:r>
            <a:r>
              <a:rPr lang="en-US" sz="1700" dirty="0"/>
              <a:t>converts source code into tokens (keywords, identifiers, operators, symbols), making detection less dependent on formatting.</a:t>
            </a:r>
          </a:p>
          <a:p>
            <a:pPr marL="285750" indent="-285750">
              <a:spcAft>
                <a:spcPts val="350"/>
              </a:spcAft>
              <a:buFont typeface="Arial"/>
              <a:buChar char="•"/>
            </a:pPr>
            <a:r>
              <a:rPr lang="en-US" sz="1700" b="1" dirty="0"/>
              <a:t>AST-Based Detection: </a:t>
            </a:r>
            <a:r>
              <a:rPr lang="en-US" sz="1700" dirty="0"/>
              <a:t>uses an Abstract Syntax Tree to understand program structure and detect complex similarities, but requires more processing.</a:t>
            </a:r>
          </a:p>
          <a:p>
            <a:pPr marL="285750" indent="-285750">
              <a:spcAft>
                <a:spcPts val="350"/>
              </a:spcAft>
              <a:buFont typeface="Arial"/>
              <a:buChar char="•"/>
            </a:pPr>
            <a:r>
              <a:rPr lang="en-US" sz="1700" b="1" dirty="0"/>
              <a:t>String Matching Algorithms: </a:t>
            </a:r>
            <a:r>
              <a:rPr lang="en-US" sz="1700" dirty="0"/>
              <a:t>efficient data structures can reduce the time required to search for repeated strings.</a:t>
            </a:r>
          </a:p>
          <a:p>
            <a:pPr marL="285750" indent="-285750">
              <a:spcAft>
                <a:spcPts val="350"/>
              </a:spcAft>
              <a:buFont typeface="Arial"/>
              <a:buChar char="•"/>
            </a:pPr>
            <a:r>
              <a:rPr lang="en-US" sz="1700" b="1" dirty="0"/>
              <a:t>Suffix Automaton: </a:t>
            </a:r>
            <a:r>
              <a:rPr lang="en-US" sz="1700" dirty="0"/>
              <a:t>a compact data structure representing all substrings of a sequence, applied to a token stream to find long repeated sequences.</a:t>
            </a:r>
          </a:p>
          <a:p>
            <a:pPr marL="285750" indent="-285750">
              <a:spcAft>
                <a:spcPts val="0"/>
              </a:spcAft>
              <a:buFont typeface="Arial"/>
              <a:buChar char="•"/>
            </a:pPr>
            <a:r>
              <a:rPr lang="en-US" sz="1700" b="1" dirty="0"/>
              <a:t>Research Gap: </a:t>
            </a:r>
            <a:r>
              <a:rPr lang="en-US" sz="1700" dirty="0"/>
              <a:t>many advanced clone detection systems are complex to implement. This project uses a simpler token-based approach with a suffix automaton, suitable for demonstrating DSA concepts while still providing useful clone detection.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10" name="Left Col"/>
          <p:cNvSpPr txBox="1"/>
          <p:nvPr/>
        </p:nvSpPr>
        <p:spPr>
          <a:xfrm>
            <a:off x="685800" y="1000125"/>
            <a:ext cx="5257800" cy="5600000"/>
          </a:xfrm>
          <a:prstGeom prst="rect">
            <a:avLst/>
          </a:prstGeom>
          <a:noFill/>
        </p:spPr>
        <p:txBody>
          <a:bodyPr wrap="square" anchor="t">
            <a:normAutofit/>
          </a:bodyPr>
          <a:lstStyle/>
          <a:p>
            <a:pPr marL="0" indent="0" algn="l">
              <a:spcAft>
                <a:spcPts val="400"/>
              </a:spcAft>
              <a:buNone/>
            </a:pPr>
            <a:r>
              <a:rPr lang="en-US" sz="1900" b="1" dirty="0"/>
              <a:t>Problem Statement</a:t>
            </a:r>
          </a:p>
          <a:p>
            <a:pPr marL="285750" indent="-285750" algn="l">
              <a:spcAft>
                <a:spcPts val="250"/>
              </a:spcAft>
              <a:buFont typeface="Arial"/>
              <a:buChar char="•"/>
            </a:pPr>
            <a:r>
              <a:rPr lang="en-US" sz="1500" dirty="0"/>
              <a:t>Large projects may contain duplicate or highly similar code sections.</a:t>
            </a:r>
          </a:p>
          <a:p>
            <a:pPr marL="285750" indent="-285750" algn="l">
              <a:spcAft>
                <a:spcPts val="250"/>
              </a:spcAft>
              <a:buFont typeface="Arial"/>
              <a:buChar char="•"/>
            </a:pPr>
            <a:r>
              <a:rPr lang="en-US" sz="1500" dirty="0"/>
              <a:t>Finding code clones manually is difficult, especially with many files.</a:t>
            </a:r>
          </a:p>
          <a:p>
            <a:pPr marL="285750" indent="-285750" algn="l">
              <a:spcAft>
                <a:spcPts val="250"/>
              </a:spcAft>
              <a:buFont typeface="Arial"/>
              <a:buChar char="•"/>
            </a:pPr>
            <a:r>
              <a:rPr lang="en-US" sz="1500" dirty="0"/>
              <a:t>Simple text comparison fails when identifiers or formatting change.</a:t>
            </a:r>
          </a:p>
          <a:p>
            <a:pPr marL="285750" indent="-285750" algn="l">
              <a:spcAft>
                <a:spcPts val="250"/>
              </a:spcAft>
              <a:buFont typeface="Arial"/>
              <a:buChar char="•"/>
            </a:pPr>
            <a:r>
              <a:rPr lang="en-US" sz="1500" dirty="0"/>
              <a:t>A system is needed that can process multiple source files.</a:t>
            </a:r>
          </a:p>
          <a:p>
            <a:pPr marL="285750" indent="-285750" algn="l">
              <a:spcAft>
                <a:spcPts val="250"/>
              </a:spcAft>
              <a:buFont typeface="Arial"/>
              <a:buChar char="•"/>
            </a:pPr>
            <a:r>
              <a:rPr lang="en-US" sz="1500" dirty="0"/>
              <a:t>It must normalize code differences and find repeated token sequences.</a:t>
            </a:r>
          </a:p>
          <a:p>
            <a:pPr marL="285750" indent="-285750" algn="l">
              <a:spcAft>
                <a:spcPts val="250"/>
              </a:spcAft>
              <a:buFont typeface="Arial"/>
              <a:buChar char="•"/>
            </a:pPr>
            <a:r>
              <a:rPr lang="en-US" sz="1500" dirty="0"/>
              <a:t>It must detect Type-1/Type-2 clones and report exact locations.</a:t>
            </a:r>
          </a:p>
        </p:txBody>
      </p:sp>
      <p:sp>
        <p:nvSpPr>
          <p:cNvPr id="11" name="Right Col"/>
          <p:cNvSpPr txBox="1"/>
          <p:nvPr/>
        </p:nvSpPr>
        <p:spPr>
          <a:xfrm>
            <a:off x="6248400" y="1000125"/>
            <a:ext cx="5257800" cy="5600000"/>
          </a:xfrm>
          <a:prstGeom prst="rect">
            <a:avLst/>
          </a:prstGeom>
          <a:noFill/>
        </p:spPr>
        <p:txBody>
          <a:bodyPr wrap="square" anchor="t">
            <a:normAutofit/>
          </a:bodyPr>
          <a:lstStyle/>
          <a:p>
            <a:pPr marL="0" indent="0" algn="l">
              <a:spcAft>
                <a:spcPts val="400"/>
              </a:spcAft>
              <a:buNone/>
            </a:pPr>
            <a:r>
              <a:rPr lang="en-US" sz="1900" b="1" dirty="0"/>
              <a:t>Objectives</a:t>
            </a:r>
          </a:p>
          <a:p>
            <a:pPr marL="285750" indent="-285750" algn="l">
              <a:spcAft>
                <a:spcPts val="200"/>
              </a:spcAft>
              <a:buFont typeface="Arial"/>
              <a:buChar char="•"/>
            </a:pPr>
            <a:r>
              <a:rPr lang="en-US" sz="1400" dirty="0"/>
              <a:t>Read and process source code files.</a:t>
            </a:r>
          </a:p>
          <a:p>
            <a:pPr marL="285750" indent="-285750" algn="l">
              <a:spcAft>
                <a:spcPts val="200"/>
              </a:spcAft>
              <a:buFont typeface="Arial"/>
              <a:buChar char="•"/>
            </a:pPr>
            <a:r>
              <a:rPr lang="en-US" sz="1400" dirty="0"/>
              <a:t>Tokenize the source code.</a:t>
            </a:r>
          </a:p>
          <a:p>
            <a:pPr marL="285750" indent="-285750" algn="l">
              <a:spcAft>
                <a:spcPts val="200"/>
              </a:spcAft>
              <a:buFont typeface="Arial"/>
              <a:buChar char="•"/>
            </a:pPr>
            <a:r>
              <a:rPr lang="en-US" sz="1400" dirty="0"/>
              <a:t>Normalize identifiers such as variable and function names.</a:t>
            </a:r>
          </a:p>
          <a:p>
            <a:pPr marL="285750" indent="-285750" algn="l">
              <a:spcAft>
                <a:spcPts val="200"/>
              </a:spcAft>
              <a:buFont typeface="Arial"/>
              <a:buChar char="•"/>
            </a:pPr>
            <a:r>
              <a:rPr lang="en-US" sz="1400" dirty="0"/>
              <a:t>Construct a suffix automaton from the token stream.</a:t>
            </a:r>
          </a:p>
          <a:p>
            <a:pPr marL="285750" indent="-285750" algn="l">
              <a:spcAft>
                <a:spcPts val="200"/>
              </a:spcAft>
              <a:buFont typeface="Arial"/>
              <a:buChar char="•"/>
            </a:pPr>
            <a:r>
              <a:rPr lang="en-US" sz="1400" dirty="0"/>
              <a:t>Detect long repeated token sequences.</a:t>
            </a:r>
          </a:p>
          <a:p>
            <a:pPr marL="285750" indent="-285750" algn="l">
              <a:spcAft>
                <a:spcPts val="200"/>
              </a:spcAft>
              <a:buFont typeface="Arial"/>
              <a:buChar char="•"/>
            </a:pPr>
            <a:r>
              <a:rPr lang="en-US" sz="1400" dirty="0"/>
              <a:t>Identify Type-1 and Type-2 code clones.</a:t>
            </a:r>
          </a:p>
          <a:p>
            <a:pPr marL="285750" indent="-285750" algn="l">
              <a:spcAft>
                <a:spcPts val="200"/>
              </a:spcAft>
              <a:buFont typeface="Arial"/>
              <a:buChar char="•"/>
            </a:pPr>
            <a:r>
              <a:rPr lang="en-US" sz="1400" dirty="0"/>
              <a:t>Display clone classes with file and line information.</a:t>
            </a:r>
          </a:p>
          <a:p>
            <a:pPr marL="285750" indent="-285750" algn="l">
              <a:spcAft>
                <a:spcPts val="200"/>
              </a:spcAft>
              <a:buFont typeface="Arial"/>
              <a:buChar char="•"/>
            </a:pPr>
            <a:r>
              <a:rPr lang="en-US" sz="1400" dirty="0"/>
              <a:t>Evaluate the detector using a seeded benchmark.</a:t>
            </a:r>
          </a:p>
          <a:p>
            <a:pPr marL="285750" indent="-285750" algn="l">
              <a:spcAft>
                <a:spcPts val="200"/>
              </a:spcAft>
              <a:buFont typeface="Arial"/>
              <a:buChar char="•"/>
            </a:pPr>
            <a:r>
              <a:rPr lang="en-US" sz="1400" dirty="0"/>
              <a:t>Demonstrate the practical use of DSA in software engineering.</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10" name="Flow Chart Body"/>
          <p:cNvSpPr txBox="1"/>
          <p:nvPr/>
        </p:nvSpPr>
        <p:spPr>
          <a:xfrm>
            <a:off x="3000000" y="700000"/>
            <a:ext cx="6192000" cy="6100000"/>
          </a:xfrm>
          <a:prstGeom prst="rect">
            <a:avLst/>
          </a:prstGeom>
          <a:noFill/>
        </p:spPr>
        <p:txBody>
          <a:bodyPr wrap="square" anchor="t">
            <a:normAutofit/>
          </a:bodyPr>
          <a:lstStyle/>
          <a:p>
            <a:pPr marL="0" indent="0" algn="ctr">
              <a:spcAft>
                <a:spcPts val="100"/>
              </a:spcAft>
              <a:buNone/>
            </a:pPr>
            <a:r>
              <a:rPr lang="en-US" sz="1500" b="1" dirty="0"/>
              <a:t>Java Source Files</a:t>
            </a:r>
          </a:p>
          <a:p>
            <a:pPr marL="0" indent="0" algn="ctr">
              <a:spcAft>
                <a:spcPts val="100"/>
              </a:spcAft>
              <a:buNone/>
            </a:pPr>
            <a:r>
              <a:rPr lang="en-US" sz="1500" dirty="0"/>
              <a:t>↓</a:t>
            </a:r>
          </a:p>
          <a:p>
            <a:pPr marL="0" indent="0" algn="ctr">
              <a:spcAft>
                <a:spcPts val="100"/>
              </a:spcAft>
              <a:buNone/>
            </a:pPr>
            <a:r>
              <a:rPr lang="en-US" sz="1500" b="1" dirty="0"/>
              <a:t>Read Files</a:t>
            </a:r>
          </a:p>
          <a:p>
            <a:pPr marL="0" indent="0" algn="ctr">
              <a:spcAft>
                <a:spcPts val="100"/>
              </a:spcAft>
              <a:buNone/>
            </a:pPr>
            <a:r>
              <a:rPr lang="en-US" sz="1500" dirty="0"/>
              <a:t>↓</a:t>
            </a:r>
          </a:p>
          <a:p>
            <a:pPr marL="0" indent="0" algn="ctr">
              <a:spcAft>
                <a:spcPts val="100"/>
              </a:spcAft>
              <a:buNone/>
            </a:pPr>
            <a:r>
              <a:rPr lang="en-US" sz="1500" b="1" dirty="0"/>
              <a:t>Tokenize Source Code</a:t>
            </a:r>
          </a:p>
          <a:p>
            <a:pPr marL="0" indent="0" algn="ctr">
              <a:spcAft>
                <a:spcPts val="100"/>
              </a:spcAft>
              <a:buNone/>
            </a:pPr>
            <a:r>
              <a:rPr lang="en-US" sz="1500" dirty="0"/>
              <a:t>↓</a:t>
            </a:r>
          </a:p>
          <a:p>
            <a:pPr marL="0" indent="0" algn="ctr">
              <a:spcAft>
                <a:spcPts val="100"/>
              </a:spcAft>
              <a:buNone/>
            </a:pPr>
            <a:r>
              <a:rPr lang="en-US" sz="1500" b="1" dirty="0"/>
              <a:t>Normalize Identifiers</a:t>
            </a:r>
          </a:p>
          <a:p>
            <a:pPr marL="0" indent="0" algn="ctr">
              <a:spcAft>
                <a:spcPts val="100"/>
              </a:spcAft>
              <a:buNone/>
            </a:pPr>
            <a:r>
              <a:rPr lang="en-US" sz="1500" dirty="0"/>
              <a:t>↓</a:t>
            </a:r>
          </a:p>
          <a:p>
            <a:pPr marL="0" indent="0" algn="ctr">
              <a:spcAft>
                <a:spcPts val="100"/>
              </a:spcAft>
              <a:buNone/>
            </a:pPr>
            <a:r>
              <a:rPr lang="en-US" sz="1500" b="1" dirty="0"/>
              <a:t>Create Token Stream</a:t>
            </a:r>
          </a:p>
          <a:p>
            <a:pPr marL="0" indent="0" algn="ctr">
              <a:spcAft>
                <a:spcPts val="100"/>
              </a:spcAft>
              <a:buNone/>
            </a:pPr>
            <a:r>
              <a:rPr lang="en-US" sz="1500" dirty="0"/>
              <a:t>↓</a:t>
            </a:r>
          </a:p>
          <a:p>
            <a:pPr marL="0" indent="0" algn="ctr">
              <a:spcAft>
                <a:spcPts val="100"/>
              </a:spcAft>
              <a:buNone/>
            </a:pPr>
            <a:r>
              <a:rPr lang="en-US" sz="1500" b="1" dirty="0"/>
              <a:t>Build Suffix Automaton</a:t>
            </a:r>
          </a:p>
          <a:p>
            <a:pPr marL="0" indent="0" algn="ctr">
              <a:spcAft>
                <a:spcPts val="100"/>
              </a:spcAft>
              <a:buNone/>
            </a:pPr>
            <a:r>
              <a:rPr lang="en-US" sz="1500" dirty="0"/>
              <a:t>↓</a:t>
            </a:r>
          </a:p>
          <a:p>
            <a:pPr marL="0" indent="0" algn="ctr">
              <a:spcAft>
                <a:spcPts val="100"/>
              </a:spcAft>
              <a:buNone/>
            </a:pPr>
            <a:r>
              <a:rPr lang="en-US" sz="1500" b="1" dirty="0"/>
              <a:t>Find Long Repeated Sequences</a:t>
            </a:r>
          </a:p>
          <a:p>
            <a:pPr marL="0" indent="0" algn="ctr">
              <a:spcAft>
                <a:spcPts val="100"/>
              </a:spcAft>
              <a:buNone/>
            </a:pPr>
            <a:r>
              <a:rPr lang="en-US" sz="1500" dirty="0"/>
              <a:t>↓</a:t>
            </a:r>
          </a:p>
          <a:p>
            <a:pPr marL="0" indent="0" algn="ctr">
              <a:spcAft>
                <a:spcPts val="100"/>
              </a:spcAft>
              <a:buNone/>
            </a:pPr>
            <a:r>
              <a:rPr lang="en-US" sz="1500" b="1" dirty="0"/>
              <a:t>Detect Type-1 &amp; Type-2 Clones</a:t>
            </a:r>
          </a:p>
          <a:p>
            <a:pPr marL="0" indent="0" algn="ctr">
              <a:spcAft>
                <a:spcPts val="100"/>
              </a:spcAft>
              <a:buNone/>
            </a:pPr>
            <a:r>
              <a:rPr lang="en-US" sz="1500" dirty="0"/>
              <a:t>↓</a:t>
            </a:r>
          </a:p>
          <a:p>
            <a:pPr marL="0" indent="0" algn="ctr">
              <a:spcAft>
                <a:spcPts val="100"/>
              </a:spcAft>
              <a:buNone/>
            </a:pPr>
            <a:r>
              <a:rPr lang="en-US" sz="1500" b="1" dirty="0"/>
              <a:t>Group Clone Classes</a:t>
            </a:r>
          </a:p>
          <a:p>
            <a:pPr marL="0" indent="0" algn="ctr">
              <a:spcAft>
                <a:spcPts val="100"/>
              </a:spcAft>
              <a:buNone/>
            </a:pPr>
            <a:r>
              <a:rPr lang="en-US" sz="1500" dirty="0"/>
              <a:t>↓</a:t>
            </a:r>
          </a:p>
          <a:p>
            <a:pPr marL="0" indent="0" algn="ctr">
              <a:spcAft>
                <a:spcPts val="100"/>
              </a:spcAft>
              <a:buNone/>
            </a:pPr>
            <a:r>
              <a:rPr lang="en-US" sz="1500" b="1" dirty="0"/>
              <a:t>Show File + Line Numbers</a:t>
            </a:r>
          </a:p>
          <a:p>
            <a:pPr marL="0" indent="0" algn="ctr">
              <a:spcAft>
                <a:spcPts val="100"/>
              </a:spcAft>
              <a:buNone/>
            </a:pPr>
            <a:r>
              <a:rPr lang="en-US" sz="1500" dirty="0"/>
              <a:t>↓</a:t>
            </a:r>
          </a:p>
          <a:p>
            <a:pPr marL="0" indent="0" algn="ctr">
              <a:spcAft>
                <a:spcPts val="100"/>
              </a:spcAft>
              <a:buNone/>
            </a:pPr>
            <a:r>
              <a:rPr lang="en-US" sz="1500" b="1" dirty="0"/>
              <a:t>Calculate Precision &amp; Recall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10" name="Results Intro"/>
          <p:cNvSpPr txBox="1"/>
          <p:nvPr/>
        </p:nvSpPr>
        <p:spPr>
          <a:xfrm>
            <a:off x="685800" y="1000125"/>
            <a:ext cx="10820400" cy="1500000"/>
          </a:xfrm>
          <a:prstGeom prst="rect">
            <a:avLst/>
          </a:prstGeom>
          <a:noFill/>
        </p:spPr>
        <p:txBody>
          <a:bodyPr wrap="square" anchor="t">
            <a:normAutofit/>
          </a:bodyPr>
          <a:lstStyle/>
          <a:p>
            <a:pPr marL="0" indent="0" algn="just">
              <a:spcAft>
                <a:spcPts val="500"/>
              </a:spcAft>
              <a:buNone/>
            </a:pPr>
            <a:r>
              <a:rPr lang="en-US" sz="1700" dirty="0"/>
              <a:t>The developed Source Code Clone Detector successfully identifies repeated and similar code fragments from Java source files. Source code is converted into tokens, identifiers are normalized, and the token sequences are processed using a Suffix Automaton to detect Type-1 and Type-2 clones, reporting their file names, line numbers, and clone groups.</a:t>
            </a:r>
          </a:p>
        </p:txBody>
      </p:sp>
      <p:sp>
        <p:nvSpPr>
          <p:cNvPr id="11" name="Results Left"/>
          <p:cNvSpPr txBox="1"/>
          <p:nvPr/>
        </p:nvSpPr>
        <p:spPr>
          <a:xfrm>
            <a:off x="685800" y="2650000"/>
            <a:ext cx="5257800" cy="3000000"/>
          </a:xfrm>
          <a:prstGeom prst="rect">
            <a:avLst/>
          </a:prstGeom>
          <a:noFill/>
        </p:spPr>
        <p:txBody>
          <a:bodyPr wrap="square" anchor="t">
            <a:normAutofit/>
          </a:bodyPr>
          <a:lstStyle/>
          <a:p>
            <a:pPr marL="285750" indent="-285750">
              <a:spcAft>
                <a:spcPts val="350"/>
              </a:spcAft>
              <a:buFont typeface="Arial"/>
              <a:buChar char="•"/>
            </a:pPr>
            <a:r>
              <a:rPr lang="en-US" sz="1700" b="1" dirty="0"/>
              <a:t>Java Files Tested: </a:t>
            </a:r>
            <a:r>
              <a:rPr lang="en-US" sz="1700" dirty="0"/>
              <a:t>5</a:t>
            </a:r>
          </a:p>
          <a:p>
            <a:pPr marL="285750" indent="-285750">
              <a:spcAft>
                <a:spcPts val="350"/>
              </a:spcAft>
              <a:buFont typeface="Arial"/>
              <a:buChar char="•"/>
            </a:pPr>
            <a:r>
              <a:rPr lang="en-US" sz="1700" b="1" dirty="0"/>
              <a:t>Total Lines Analyzed: </a:t>
            </a:r>
            <a:r>
              <a:rPr lang="en-US" sz="1700" dirty="0"/>
              <a:t>450</a:t>
            </a:r>
          </a:p>
          <a:p>
            <a:pPr marL="285750" indent="-285750">
              <a:spcAft>
                <a:spcPts val="350"/>
              </a:spcAft>
              <a:buFont typeface="Arial"/>
              <a:buChar char="•"/>
            </a:pPr>
            <a:r>
              <a:rPr lang="en-US" sz="1700" b="1" dirty="0"/>
              <a:t>Total Tokens: </a:t>
            </a:r>
            <a:r>
              <a:rPr lang="en-US" sz="1700" dirty="0"/>
              <a:t>1,280</a:t>
            </a:r>
          </a:p>
          <a:p>
            <a:pPr marL="285750" indent="-285750">
              <a:spcAft>
                <a:spcPts val="350"/>
              </a:spcAft>
              <a:buFont typeface="Arial"/>
              <a:buChar char="•"/>
            </a:pPr>
            <a:r>
              <a:rPr lang="en-US" sz="1700" b="1" dirty="0"/>
              <a:t>Clone Classes Detected: </a:t>
            </a:r>
            <a:r>
              <a:rPr lang="en-US" sz="1700" dirty="0"/>
              <a:t>6</a:t>
            </a:r>
          </a:p>
        </p:txBody>
      </p:sp>
      <p:sp>
        <p:nvSpPr>
          <p:cNvPr id="12" name="Results Right"/>
          <p:cNvSpPr txBox="1"/>
          <p:nvPr/>
        </p:nvSpPr>
        <p:spPr>
          <a:xfrm>
            <a:off x="6248400" y="2650000"/>
            <a:ext cx="5257800" cy="3000000"/>
          </a:xfrm>
          <a:prstGeom prst="rect">
            <a:avLst/>
          </a:prstGeom>
          <a:noFill/>
        </p:spPr>
        <p:txBody>
          <a:bodyPr wrap="square" anchor="t">
            <a:normAutofit/>
          </a:bodyPr>
          <a:lstStyle/>
          <a:p>
            <a:pPr marL="285750" indent="-285750">
              <a:spcAft>
                <a:spcPts val="350"/>
              </a:spcAft>
              <a:buFont typeface="Arial"/>
              <a:buChar char="•"/>
            </a:pPr>
            <a:r>
              <a:rPr lang="en-US" sz="1700" b="1" dirty="0"/>
              <a:t>Type-1 Clones: </a:t>
            </a:r>
            <a:r>
              <a:rPr lang="en-US" sz="1700" dirty="0"/>
              <a:t>2</a:t>
            </a:r>
          </a:p>
          <a:p>
            <a:pPr marL="285750" indent="-285750">
              <a:spcAft>
                <a:spcPts val="350"/>
              </a:spcAft>
              <a:buFont typeface="Arial"/>
              <a:buChar char="•"/>
            </a:pPr>
            <a:r>
              <a:rPr lang="en-US" sz="1700" b="1" dirty="0"/>
              <a:t>Type-2 Clones: </a:t>
            </a:r>
            <a:r>
              <a:rPr lang="en-US" sz="1700" dirty="0"/>
              <a:t>4</a:t>
            </a:r>
          </a:p>
          <a:p>
            <a:pPr marL="285750" indent="-285750">
              <a:spcAft>
                <a:spcPts val="350"/>
              </a:spcAft>
              <a:buFont typeface="Arial"/>
              <a:buChar char="•"/>
            </a:pPr>
            <a:r>
              <a:rPr lang="en-US" sz="1700" b="1" dirty="0"/>
              <a:t>Longest Repeated Sequence: </a:t>
            </a:r>
            <a:r>
              <a:rPr lang="en-US" sz="1700" dirty="0"/>
              <a:t>18 tokens</a:t>
            </a:r>
          </a:p>
          <a:p>
            <a:pPr marL="285750" indent="-285750">
              <a:spcAft>
                <a:spcPts val="350"/>
              </a:spcAft>
              <a:buFont typeface="Arial"/>
              <a:buChar char="•"/>
            </a:pPr>
            <a:r>
              <a:rPr lang="en-US" sz="1700" b="1" dirty="0"/>
              <a:t>Precision: </a:t>
            </a:r>
            <a:r>
              <a:rPr lang="en-US" sz="1700" dirty="0"/>
              <a:t>90%</a:t>
            </a:r>
          </a:p>
          <a:p>
            <a:pPr marL="285750" indent="-285750">
              <a:spcAft>
                <a:spcPts val="350"/>
              </a:spcAft>
              <a:buFont typeface="Arial"/>
              <a:buChar char="•"/>
            </a:pPr>
            <a:r>
              <a:rPr lang="en-US" sz="1700" b="1" dirty="0"/>
              <a:t>Recall: </a:t>
            </a:r>
            <a:r>
              <a:rPr lang="en-US" sz="1700" dirty="0"/>
              <a:t>88%</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10" name="Left Col"/>
          <p:cNvSpPr txBox="1"/>
          <p:nvPr/>
        </p:nvSpPr>
        <p:spPr>
          <a:xfrm>
            <a:off x="685800" y="1000125"/>
            <a:ext cx="5257800" cy="5600000"/>
          </a:xfrm>
          <a:prstGeom prst="rect">
            <a:avLst/>
          </a:prstGeom>
          <a:noFill/>
        </p:spPr>
        <p:txBody>
          <a:bodyPr wrap="square" anchor="t">
            <a:normAutofit/>
          </a:bodyPr>
          <a:lstStyle/>
          <a:p>
            <a:pPr marL="0" indent="0" algn="l">
              <a:spcAft>
                <a:spcPts val="400"/>
              </a:spcAft>
              <a:buNone/>
            </a:pPr>
            <a:r>
              <a:rPr lang="en-US" sz="1800" b="1" dirty="0"/>
              <a:t>Hardware Requirements</a:t>
            </a:r>
          </a:p>
          <a:p>
            <a:pPr marL="0" indent="0" algn="l">
              <a:spcAft>
                <a:spcPts val="350"/>
              </a:spcAft>
              <a:buNone/>
            </a:pPr>
            <a:r>
              <a:rPr lang="en-US" sz="1400" i="1" dirty="0"/>
              <a:t>A normal laptop or desktop computer is sufficient to run the project.</a:t>
            </a:r>
          </a:p>
          <a:p>
            <a:pPr marL="285750" indent="-285750">
              <a:spcAft>
                <a:spcPts val="250"/>
              </a:spcAft>
              <a:buFont typeface="Arial"/>
              <a:buChar char="•"/>
            </a:pPr>
            <a:r>
              <a:rPr lang="en-US" sz="1500" b="1" dirty="0"/>
              <a:t>Processor: </a:t>
            </a:r>
            <a:r>
              <a:rPr lang="en-US" sz="1500" dirty="0"/>
              <a:t>Intel Core i3 or equivalent</a:t>
            </a:r>
          </a:p>
          <a:p>
            <a:pPr marL="285750" indent="-285750">
              <a:spcAft>
                <a:spcPts val="250"/>
              </a:spcAft>
              <a:buFont typeface="Arial"/>
              <a:buChar char="•"/>
            </a:pPr>
            <a:r>
              <a:rPr lang="en-US" sz="1500" b="1" dirty="0"/>
              <a:t>RAM: </a:t>
            </a:r>
            <a:r>
              <a:rPr lang="en-US" sz="1500" dirty="0"/>
              <a:t>4 GB minimum</a:t>
            </a:r>
          </a:p>
          <a:p>
            <a:pPr marL="285750" indent="-285750">
              <a:spcAft>
                <a:spcPts val="250"/>
              </a:spcAft>
              <a:buFont typeface="Arial"/>
              <a:buChar char="•"/>
            </a:pPr>
            <a:r>
              <a:rPr lang="en-US" sz="1500" b="1" dirty="0"/>
              <a:t>Storage: </a:t>
            </a:r>
            <a:r>
              <a:rPr lang="en-US" sz="1500" dirty="0"/>
              <a:t>500 MB or more</a:t>
            </a:r>
          </a:p>
          <a:p>
            <a:pPr marL="285750" indent="-285750">
              <a:spcAft>
                <a:spcPts val="250"/>
              </a:spcAft>
              <a:buFont typeface="Arial"/>
              <a:buChar char="•"/>
            </a:pPr>
            <a:r>
              <a:rPr lang="en-US" sz="1500" b="1" dirty="0"/>
              <a:t>Keyboard: </a:t>
            </a:r>
            <a:r>
              <a:rPr lang="en-US" sz="1500" dirty="0"/>
              <a:t>Standard</a:t>
            </a:r>
          </a:p>
          <a:p>
            <a:pPr marL="285750" indent="-285750">
              <a:spcAft>
                <a:spcPts val="250"/>
              </a:spcAft>
              <a:buFont typeface="Arial"/>
              <a:buChar char="•"/>
            </a:pPr>
            <a:r>
              <a:rPr lang="en-US" sz="1500" b="1" dirty="0"/>
              <a:t>Mouse: </a:t>
            </a:r>
            <a:r>
              <a:rPr lang="en-US" sz="1500" dirty="0"/>
              <a:t>Standard</a:t>
            </a:r>
          </a:p>
          <a:p>
            <a:pPr marL="285750" indent="-285750">
              <a:spcAft>
                <a:spcPts val="250"/>
              </a:spcAft>
              <a:buFont typeface="Arial"/>
              <a:buChar char="•"/>
            </a:pPr>
            <a:r>
              <a:rPr lang="en-US" sz="1500" b="1" dirty="0"/>
              <a:t>Display: </a:t>
            </a:r>
            <a:r>
              <a:rPr lang="en-US" sz="1500" dirty="0"/>
              <a:t>Standard monitor</a:t>
            </a:r>
          </a:p>
        </p:txBody>
      </p:sp>
      <p:sp>
        <p:nvSpPr>
          <p:cNvPr id="11" name="Right Col"/>
          <p:cNvSpPr txBox="1"/>
          <p:nvPr/>
        </p:nvSpPr>
        <p:spPr>
          <a:xfrm>
            <a:off x="6248400" y="1000125"/>
            <a:ext cx="5257800" cy="5600000"/>
          </a:xfrm>
          <a:prstGeom prst="rect">
            <a:avLst/>
          </a:prstGeom>
          <a:noFill/>
        </p:spPr>
        <p:txBody>
          <a:bodyPr wrap="square" anchor="t">
            <a:normAutofit/>
          </a:bodyPr>
          <a:lstStyle/>
          <a:p>
            <a:pPr marL="0" indent="0" algn="l">
              <a:spcAft>
                <a:spcPts val="400"/>
              </a:spcAft>
              <a:buNone/>
            </a:pPr>
            <a:r>
              <a:rPr lang="en-US" sz="1800" b="1" dirty="0"/>
              <a:t>Software Requirements</a:t>
            </a:r>
          </a:p>
          <a:p>
            <a:pPr marL="285750" indent="-285750">
              <a:spcAft>
                <a:spcPts val="250"/>
              </a:spcAft>
              <a:buFont typeface="Arial"/>
              <a:buChar char="•"/>
            </a:pPr>
            <a:r>
              <a:rPr lang="en-US" sz="1500" b="1" dirty="0"/>
              <a:t>Operating System: </a:t>
            </a:r>
            <a:r>
              <a:rPr lang="en-US" sz="1500" dirty="0"/>
              <a:t>Windows / Linux / macOS</a:t>
            </a:r>
          </a:p>
          <a:p>
            <a:pPr marL="285750" indent="-285750">
              <a:spcAft>
                <a:spcPts val="250"/>
              </a:spcAft>
              <a:buFont typeface="Arial"/>
              <a:buChar char="•"/>
            </a:pPr>
            <a:r>
              <a:rPr lang="en-US" sz="1500" b="1" dirty="0"/>
              <a:t>Programming Language: </a:t>
            </a:r>
            <a:r>
              <a:rPr lang="en-US" sz="1500" dirty="0"/>
              <a:t>Java</a:t>
            </a:r>
          </a:p>
          <a:p>
            <a:pPr marL="285750" indent="-285750">
              <a:spcAft>
                <a:spcPts val="250"/>
              </a:spcAft>
              <a:buFont typeface="Arial"/>
              <a:buChar char="•"/>
            </a:pPr>
            <a:r>
              <a:rPr lang="en-US" sz="1500" b="1" dirty="0"/>
              <a:t>JDK: </a:t>
            </a:r>
            <a:r>
              <a:rPr lang="en-US" sz="1500" dirty="0"/>
              <a:t>JDK 17 or later</a:t>
            </a:r>
          </a:p>
          <a:p>
            <a:pPr marL="285750" indent="-285750">
              <a:spcAft>
                <a:spcPts val="250"/>
              </a:spcAft>
              <a:buFont typeface="Arial"/>
              <a:buChar char="•"/>
            </a:pPr>
            <a:r>
              <a:rPr lang="en-US" sz="1500" b="1" dirty="0"/>
              <a:t>IDE: </a:t>
            </a:r>
            <a:r>
              <a:rPr lang="en-US" sz="1500" dirty="0"/>
              <a:t>IntelliJ IDEA / Eclipse / VS Code</a:t>
            </a:r>
          </a:p>
          <a:p>
            <a:pPr marL="285750" indent="-285750">
              <a:spcAft>
                <a:spcPts val="250"/>
              </a:spcAft>
              <a:buFont typeface="Arial"/>
              <a:buChar char="•"/>
            </a:pPr>
            <a:r>
              <a:rPr lang="en-US" sz="1500" b="1" dirty="0"/>
              <a:t>Input: </a:t>
            </a:r>
            <a:r>
              <a:rPr lang="en-US" sz="1500" dirty="0"/>
              <a:t>Java source code files</a:t>
            </a:r>
          </a:p>
          <a:p>
            <a:pPr marL="285750" indent="-285750">
              <a:spcAft>
                <a:spcPts val="250"/>
              </a:spcAft>
              <a:buFont typeface="Arial"/>
              <a:buChar char="•"/>
            </a:pPr>
            <a:r>
              <a:rPr lang="en-US" sz="1500" b="1" dirty="0"/>
              <a:t>Output: </a:t>
            </a:r>
            <a:r>
              <a:rPr lang="en-US" sz="1500" dirty="0"/>
              <a:t>Clone detection report</a:t>
            </a:r>
          </a:p>
          <a:p>
            <a:pPr marL="285750" indent="-285750">
              <a:spcAft>
                <a:spcPts val="250"/>
              </a:spcAft>
              <a:buFont typeface="Arial"/>
              <a:buChar char="•"/>
            </a:pPr>
            <a:r>
              <a:rPr lang="en-US" sz="1500" b="1" dirty="0"/>
              <a:t>Libraries: </a:t>
            </a:r>
            <a:r>
              <a:rPr lang="en-US" sz="1500" dirty="0"/>
              <a:t>Java Standard Library</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10" name="Content Body"/>
          <p:cNvSpPr txBox="1"/>
          <p:nvPr/>
        </p:nvSpPr>
        <p:spPr>
          <a:xfrm>
            <a:off x="685800" y="1000125"/>
            <a:ext cx="10820400" cy="5600000"/>
          </a:xfrm>
          <a:prstGeom prst="rect">
            <a:avLst/>
          </a:prstGeom>
          <a:noFill/>
        </p:spPr>
        <p:txBody>
          <a:bodyPr wrap="square" anchor="t">
            <a:normAutofit/>
          </a:bodyPr>
          <a:lstStyle/>
          <a:p>
            <a:pPr marL="0" indent="0" algn="just">
              <a:spcAft>
                <a:spcPts val="500"/>
              </a:spcAft>
              <a:buNone/>
            </a:pPr>
            <a:r>
              <a:rPr lang="en-US" sz="1900" dirty="0"/>
              <a:t>The Source Code Clone Detector provides an efficient way to identify duplicate and similar sections of source code. The system converts source code into tokens, normalizes identifiers, and uses a suffix automaton to find long repeated token sequences. It can detect Type-1 and Type-2 code clones and report their file and line locations.</a:t>
            </a:r>
          </a:p>
          <a:p>
            <a:pPr marL="0" indent="0" algn="just">
              <a:spcAft>
                <a:spcPts val="0"/>
              </a:spcAft>
              <a:buNone/>
            </a:pPr>
            <a:r>
              <a:rPr lang="en-US" sz="1900" dirty="0"/>
              <a:t>The project demonstrates how important Data Structures and Algorithms can be applied to real-world software development problems. By identifying duplicate code, the system helps developers improve code quality, reduce redundancy, and make software easier to maintain.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10" name="Content Body"/>
          <p:cNvSpPr txBox="1"/>
          <p:nvPr/>
        </p:nvSpPr>
        <p:spPr>
          <a:xfrm>
            <a:off x="685800" y="1000125"/>
            <a:ext cx="10820400" cy="5600000"/>
          </a:xfrm>
          <a:prstGeom prst="rect">
            <a:avLst/>
          </a:prstGeom>
          <a:noFill/>
        </p:spPr>
        <p:txBody>
          <a:bodyPr wrap="square" anchor="t">
            <a:normAutofit/>
          </a:bodyPr>
          <a:lstStyle/>
          <a:p>
            <a:pPr marL="0" indent="0" algn="l">
              <a:spcAft>
                <a:spcPts val="500"/>
              </a:spcAft>
              <a:buNone/>
            </a:pPr>
            <a:r>
              <a:rPr lang="en-US" sz="1900" dirty="0"/>
              <a:t>The project can be improved in several ways in the future:</a:t>
            </a:r>
          </a:p>
          <a:p>
            <a:pPr marL="342900" indent="-342900">
              <a:spcAft>
                <a:spcPts val="400"/>
              </a:spcAft>
              <a:buFont typeface="+mj-lt"/>
              <a:buAutoNum type="arabicPeriod"/>
            </a:pPr>
            <a:r>
              <a:rPr lang="en-US" sz="1900" dirty="0"/>
              <a:t>Support more programming languages such as C++, JavaScript, and C#.</a:t>
            </a:r>
          </a:p>
          <a:p>
            <a:pPr marL="342900" indent="-342900">
              <a:spcAft>
                <a:spcPts val="400"/>
              </a:spcAft>
              <a:buFont typeface="+mj-lt"/>
              <a:buAutoNum type="arabicPeriod" startAt="2"/>
            </a:pPr>
            <a:r>
              <a:rPr lang="en-US" sz="1900" dirty="0"/>
              <a:t>Detect Type-3 clones, where statements are added, removed, or modified.</a:t>
            </a:r>
          </a:p>
          <a:p>
            <a:pPr marL="342900" indent="-342900">
              <a:spcAft>
                <a:spcPts val="400"/>
              </a:spcAft>
              <a:buFont typeface="+mj-lt"/>
              <a:buAutoNum type="arabicPeriod" startAt="3"/>
            </a:pPr>
            <a:r>
              <a:rPr lang="en-US" sz="1900" dirty="0"/>
              <a:t>Detect Type-4 clones, where the code is different but performs similar functionality.</a:t>
            </a:r>
          </a:p>
          <a:p>
            <a:pPr marL="342900" indent="-342900">
              <a:spcAft>
                <a:spcPts val="400"/>
              </a:spcAft>
              <a:buFont typeface="+mj-lt"/>
              <a:buAutoNum type="arabicPeriod" startAt="4"/>
            </a:pPr>
            <a:r>
              <a:rPr lang="en-US" sz="1900" dirty="0"/>
              <a:t>Develop a web-based interface for uploading source code.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1041</Words>
  <Application>Microsoft Office PowerPoint</Application>
  <PresentationFormat>Widescreen</PresentationFormat>
  <Paragraphs>116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Source Code Clone Detector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T VARUN</cp:lastModifiedBy>
  <cp:revision>20</cp:revision>
  <dcterms:created xsi:type="dcterms:W3CDTF">2024-08-29T05:25:00Z</dcterms:created>
  <dcterms:modified xsi:type="dcterms:W3CDTF">2026-09-11T05:49:11Z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